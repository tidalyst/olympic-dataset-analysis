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B1F4B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B1F4B"/>
                </a:solidFill>
                <a:latin typeface="Arial"/>
              </a:rPr>
              <a:t>Top 10 Countries by Total Medals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Medals by Country</c:v>
                </c:pt>
              </c:strCache>
            </c:strRef>
          </c:tx>
          <c:spPr>
            <a:solidFill>
              <a:srgbClr val="0B1F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26-4D44-8610-2C3291277D5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C26-4D44-8610-2C3291277D5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C26-4D44-8610-2C3291277D5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C26-4D44-8610-2C3291277D5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C26-4D44-8610-2C3291277D5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C26-4D44-8610-2C3291277D5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C26-4D44-8610-2C3291277D5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C26-4D44-8610-2C3291277D5E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C26-4D44-8610-2C3291277D5E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C26-4D44-8610-2C3291277D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USA</c:v>
                </c:pt>
                <c:pt idx="1">
                  <c:v>Russia</c:v>
                </c:pt>
                <c:pt idx="2">
                  <c:v>Germany</c:v>
                </c:pt>
                <c:pt idx="3">
                  <c:v>UK</c:v>
                </c:pt>
                <c:pt idx="4">
                  <c:v>France</c:v>
                </c:pt>
                <c:pt idx="5">
                  <c:v>Italy</c:v>
                </c:pt>
                <c:pt idx="6">
                  <c:v>Sweden</c:v>
                </c:pt>
                <c:pt idx="7">
                  <c:v>Canada</c:v>
                </c:pt>
                <c:pt idx="8">
                  <c:v>Australia</c:v>
                </c:pt>
                <c:pt idx="9">
                  <c:v>Hungary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5646</c:v>
                </c:pt>
                <c:pt idx="1">
                  <c:v>3956</c:v>
                </c:pt>
                <c:pt idx="2">
                  <c:v>3761</c:v>
                </c:pt>
                <c:pt idx="3">
                  <c:v>2067</c:v>
                </c:pt>
                <c:pt idx="4">
                  <c:v>1767</c:v>
                </c:pt>
                <c:pt idx="5">
                  <c:v>1637</c:v>
                </c:pt>
                <c:pt idx="6">
                  <c:v>1536</c:v>
                </c:pt>
                <c:pt idx="7">
                  <c:v>1352</c:v>
                </c:pt>
                <c:pt idx="8">
                  <c:v>1349</c:v>
                </c:pt>
                <c:pt idx="9">
                  <c:v>1135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C26-4D44-8610-2C3291277D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B1F4B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B1F4B"/>
                </a:solidFill>
                <a:latin typeface="Arial"/>
              </a:rPr>
              <a:t>Entries vs Medals by Sport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Entries</c:v>
                </c:pt>
              </c:strCache>
            </c:strRef>
          </c:tx>
          <c:spPr>
            <a:solidFill>
              <a:srgbClr val="0B1F4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Athletics</c:v>
                </c:pt>
                <c:pt idx="1">
                  <c:v>Gymnastics</c:v>
                </c:pt>
                <c:pt idx="2">
                  <c:v>Swimming</c:v>
                </c:pt>
                <c:pt idx="3">
                  <c:v>Shooting</c:v>
                </c:pt>
                <c:pt idx="4">
                  <c:v>Cycling</c:v>
                </c:pt>
                <c:pt idx="5">
                  <c:v>Fencing</c:v>
                </c:pt>
                <c:pt idx="6">
                  <c:v>Rowing</c:v>
                </c:pt>
                <c:pt idx="7">
                  <c:v>Cross Country Ski</c:v>
                </c:pt>
                <c:pt idx="8">
                  <c:v>Alpine Ski</c:v>
                </c:pt>
                <c:pt idx="9">
                  <c:v>Wrestling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38624</c:v>
                </c:pt>
                <c:pt idx="1">
                  <c:v>26707</c:v>
                </c:pt>
                <c:pt idx="2">
                  <c:v>23195</c:v>
                </c:pt>
                <c:pt idx="3">
                  <c:v>11448</c:v>
                </c:pt>
                <c:pt idx="4">
                  <c:v>10827</c:v>
                </c:pt>
                <c:pt idx="5">
                  <c:v>10735</c:v>
                </c:pt>
                <c:pt idx="6">
                  <c:v>10595</c:v>
                </c:pt>
                <c:pt idx="7">
                  <c:v>9133</c:v>
                </c:pt>
                <c:pt idx="8">
                  <c:v>8829</c:v>
                </c:pt>
                <c:pt idx="9">
                  <c:v>7154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EB-4C99-BCED-9EE07E0B3D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Medals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Athletics</c:v>
                </c:pt>
                <c:pt idx="1">
                  <c:v>Gymnastics</c:v>
                </c:pt>
                <c:pt idx="2">
                  <c:v>Swimming</c:v>
                </c:pt>
                <c:pt idx="3">
                  <c:v>Shooting</c:v>
                </c:pt>
                <c:pt idx="4">
                  <c:v>Cycling</c:v>
                </c:pt>
                <c:pt idx="5">
                  <c:v>Fencing</c:v>
                </c:pt>
                <c:pt idx="6">
                  <c:v>Rowing</c:v>
                </c:pt>
                <c:pt idx="7">
                  <c:v>Cross Country Ski</c:v>
                </c:pt>
                <c:pt idx="8">
                  <c:v>Alpine Ski</c:v>
                </c:pt>
                <c:pt idx="9">
                  <c:v>Wrestling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3969</c:v>
                </c:pt>
                <c:pt idx="1">
                  <c:v>2256</c:v>
                </c:pt>
                <c:pt idx="2">
                  <c:v>3048</c:v>
                </c:pt>
                <c:pt idx="3">
                  <c:v>1228</c:v>
                </c:pt>
                <c:pt idx="4">
                  <c:v>1263</c:v>
                </c:pt>
                <c:pt idx="5">
                  <c:v>1743</c:v>
                </c:pt>
                <c:pt idx="6">
                  <c:v>2945</c:v>
                </c:pt>
                <c:pt idx="7">
                  <c:v>776</c:v>
                </c:pt>
                <c:pt idx="8">
                  <c:v>428</c:v>
                </c:pt>
                <c:pt idx="9">
                  <c:v>1296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EB-4C99-BCED-9EE07E0B3D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B1F4B"/>
                </a:solidFill>
                <a:latin typeface="Arial"/>
              </a:defRPr>
            </a:pPr>
            <a:r>
              <a:rPr lang="en-US" sz="1100" b="1" i="0" u="none" strike="noStrike">
                <a:solidFill>
                  <a:srgbClr val="0B1F4B"/>
                </a:solidFill>
                <a:latin typeface="Arial"/>
              </a:rPr>
              <a:t>Overall Male vs Female Entries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Entries by Sex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6FF-4110-B67E-41152602EF0D}"/>
              </c:ext>
            </c:extLst>
          </c:dPt>
          <c:dPt>
            <c:idx val="1"/>
            <c:bubble3D val="0"/>
            <c:spPr>
              <a:solidFill>
                <a:srgbClr val="0EA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FF-4110-B67E-41152602EF0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6FF-4110-B67E-41152602EF0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NG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6FF-4110-B67E-41152602EF0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(195,353)</c:v>
                </c:pt>
                <c:pt idx="1">
                  <c:v>Female (74,378)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195353</c:v>
                </c:pt>
                <c:pt idx="1">
                  <c:v>74378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FF-4110-B67E-41152602EF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275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502920"/>
            <a:ext cx="685800" cy="685800"/>
          </a:xfrm>
          <a:prstGeom prst="ellipse">
            <a:avLst/>
          </a:prstGeom>
          <a:solidFill>
            <a:srgbClr val="005FA3"/>
          </a:solidFill>
          <a:ln w="12700">
            <a:solidFill>
              <a:srgbClr val="005FA3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2194560" y="5029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3017520" y="502920"/>
            <a:ext cx="685800" cy="685800"/>
          </a:xfrm>
          <a:prstGeom prst="ellipse">
            <a:avLst/>
          </a:prstGeom>
          <a:solidFill>
            <a:srgbClr val="CF2B34"/>
          </a:solidFill>
          <a:ln w="12700">
            <a:solidFill>
              <a:srgbClr val="CF2B3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840480" y="502920"/>
            <a:ext cx="685800" cy="685800"/>
          </a:xfrm>
          <a:prstGeom prst="ellipse">
            <a:avLst/>
          </a:prstGeom>
          <a:solidFill>
            <a:srgbClr val="FDBA12"/>
          </a:solidFill>
          <a:ln w="12700">
            <a:solidFill>
              <a:srgbClr val="FDBA12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4663440" y="502920"/>
            <a:ext cx="685800" cy="685800"/>
          </a:xfrm>
          <a:prstGeom prst="ellipse">
            <a:avLst/>
          </a:prstGeom>
          <a:solidFill>
            <a:srgbClr val="009D5A"/>
          </a:solidFill>
          <a:ln w="12700">
            <a:solidFill>
              <a:srgbClr val="009D5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 YEARS OF OLYMPIC HISTORY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· Medals · Countries · Gender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  |  Power BI Dashboard Insights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611880"/>
            <a:ext cx="201168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100584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269,731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3611880"/>
            <a:ext cx="201168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56616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135,571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4187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Athletes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611880"/>
            <a:ext cx="201168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612648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39,835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4187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🌍  COUNTRY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0116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182880" y="850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269,731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" y="1316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Entries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95728" y="822960"/>
            <a:ext cx="20116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395728" y="850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39,835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95728" y="1316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20116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08576" y="850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13,361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08576" y="1316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Medals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21424" y="822960"/>
            <a:ext cx="20116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821424" y="850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22,297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21424" y="1316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Entries (highest host)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19659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182880" y="1965960"/>
            <a:ext cx="54864" cy="84124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20040" y="2020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USA Dominates Overall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27685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leads with 5,646 total medals and 18,604 athlete entries — the highest of any nation.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92608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182880" y="2926080"/>
            <a:ext cx="54864" cy="84124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320040" y="29809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London: Most Athletes Hosted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2369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recorded the highest cumulative entries across all hosted editions: 22,297 athletes from 209 countries.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388620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182880" y="3886200"/>
            <a:ext cx="54864" cy="84124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320040" y="3941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Europe Leads Regionally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1970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contributed the largest share of entries, with Germany leading at ~15,787 athlete entries within the region.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471955027"/>
              </p:ext>
            </p:extLst>
          </p:nvPr>
        </p:nvGraphicFramePr>
        <p:xfrm>
          <a:off x="4572000" y="1988820"/>
          <a:ext cx="4343400" cy="2738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ATHLETE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" y="804672"/>
            <a:ext cx="1600200" cy="8686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109728" y="8229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135,571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" y="1280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Athletes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01952" y="804672"/>
            <a:ext cx="1600200" cy="8686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1901952" y="8229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1952" y="1280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 Winners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94176" y="804672"/>
            <a:ext cx="1600200" cy="8686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3694176" y="8229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yrs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94176" y="1280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804672"/>
            <a:ext cx="1600200" cy="8686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5486400" y="8229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175.6 cm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280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Height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78624" y="804672"/>
            <a:ext cx="1600200" cy="86868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7278624" y="822960"/>
            <a:ext cx="1600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71.0 kg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78624" y="12801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Weight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1828800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182880" y="1828800"/>
            <a:ext cx="54864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2004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Athletics Dominates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Athletics recorded 38,624 entries and 3,969 medals — the highest across all sports in both categories.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624328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182880" y="2624328"/>
            <a:ext cx="54864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20040" y="267004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Michael Phelps: GOAT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2898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28 total medals (23 Gold), Michael Fred Phelps, II holds the all-time Olympic medal record.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3419856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182880" y="3419856"/>
            <a:ext cx="54864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20040" y="34655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Peak Year: 1992 Barcelona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6941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 saw the highest athlete count at 11,183, coinciding with peak combined Summer + Winter participation.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4215384"/>
            <a:ext cx="4663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182880" y="4215384"/>
            <a:ext cx="54864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320040" y="42611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Only 21% Win Medals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4489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135,571 athletes, only 1 in 5 has won a medal — highlighting the need for stronger athlete pipelines.</a:t>
            </a:r>
            <a:endParaRPr lang="en-US" sz="950" dirty="0"/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p14:modId xmlns:p14="http://schemas.microsoft.com/office/powerpoint/2010/main" val="3289228860"/>
              </p:ext>
            </p:extLst>
          </p:nvPr>
        </p:nvGraphicFramePr>
        <p:xfrm>
          <a:off x="4928616" y="1755648"/>
          <a:ext cx="4023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⚥  GENDER PARTICIPATION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195,353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Male Entries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95728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395728" y="8229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74,378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95728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Female Entries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08576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608576" y="8229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40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72%/28%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Split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21424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821424" y="8229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1424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Female Year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1874520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182880" y="1874520"/>
            <a:ext cx="54864" cy="7132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20040" y="192024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Steady Female Growth Since 1900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1488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participation grew consistently from near-zero in 1896, with a marked acceleration post-1960 as more women's events were added.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670048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182880" y="2670048"/>
            <a:ext cx="54864" cy="7132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320040" y="27157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Still Below Parity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29443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progress, female entries (74,378) represent only ~28% of total entries (269,731), well below male participation (195,353).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3465576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182880" y="3465576"/>
            <a:ext cx="54864" cy="7132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320040" y="3511296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Athletics: Top Sport for Both Genders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37398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Athletics led participation for both males (26,958) and females (11,666), reinforcing its central role in the Games.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4261104"/>
            <a:ext cx="4754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182880" y="4261104"/>
            <a:ext cx="54864" cy="713232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320040" y="430682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USA Leads Female Participation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53542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States, Germany, Russia, Canada, and the UK recorded the highest female participation levels globally.</a:t>
            </a:r>
            <a:endParaRPr lang="en-US" sz="950" dirty="0"/>
          </a:p>
        </p:txBody>
      </p:sp>
      <p:graphicFrame>
        <p:nvGraphicFramePr>
          <p:cNvPr id="32" name="Chart 0"/>
          <p:cNvGraphicFramePr/>
          <p:nvPr>
            <p:extLst>
              <p:ext uri="{D42A27DB-BD31-4B8C-83A1-F6EECF244321}">
                <p14:modId xmlns:p14="http://schemas.microsoft.com/office/powerpoint/2010/main" val="3971780306"/>
              </p:ext>
            </p:extLst>
          </p:nvPr>
        </p:nvGraphicFramePr>
        <p:xfrm>
          <a:off x="5020056" y="1825752"/>
          <a:ext cx="38404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DASHBOARD: Country Performance</a:t>
            </a:r>
            <a:endParaRPr lang="en-US" sz="1600" dirty="0"/>
          </a:p>
        </p:txBody>
      </p:sp>
      <p:pic>
        <p:nvPicPr>
          <p:cNvPr id="3" name="Image 0" descr="/mnt/user-data/uploads/Olympic_Project_page-0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"/>
            <a:ext cx="8778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DASHBOARD: Athletes Performance</a:t>
            </a:r>
            <a:endParaRPr lang="en-US" sz="1600" dirty="0"/>
          </a:p>
        </p:txBody>
      </p:sp>
      <p:pic>
        <p:nvPicPr>
          <p:cNvPr id="3" name="Image 0" descr="/mnt/user-data/uploads/Olympic_Project_page-0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"/>
            <a:ext cx="8778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DASHBOARD: Gender Participation</a:t>
            </a:r>
            <a:endParaRPr lang="en-US" sz="1600" dirty="0"/>
          </a:p>
        </p:txBody>
      </p:sp>
      <p:pic>
        <p:nvPicPr>
          <p:cNvPr id="3" name="Image 0" descr="/mnt/user-data/uploads/Olympic_Project_page-0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21792"/>
            <a:ext cx="8778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PROPOSED STRATEGIES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4251960" cy="914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320040" y="1033272"/>
            <a:ext cx="438912" cy="438912"/>
          </a:xfrm>
          <a:prstGeom prst="ellipse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20040" y="1033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01498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Grassroots Sports Development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356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21% of 135,571 athletes won medals. Targeted investment in school sport programs and youth academies can build stronger athlete pipelines.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3500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Athletes Performance Dashboard — %Athletes that won Medal: 21%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251960" cy="91440"/>
          </a:xfrm>
          <a:prstGeom prst="rect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846320" y="1033272"/>
            <a:ext cx="438912" cy="43891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846320" y="1033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67528" y="101498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Female Participation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435608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entries (74,378) represent just 28% of total entries. Awareness campaigns, scholarships, and equal access to training can close this gap.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3500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Gender Participation Dashboard — Total Males: 195,353 vs Total Females: 74,378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95351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182880" y="2953512"/>
            <a:ext cx="42519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320040" y="3118104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20040" y="31181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0998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Low-Participation Sports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35204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Athletics dominates while sports like Rugby, Polo, and Lacrosse lag far behind. Increased sponsorship and youth programs can broaden participation.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434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Athletes Performance Dashboard — Entries by Sport showing Athletics at 38,624 vs others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95351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4709160" y="2953512"/>
            <a:ext cx="4251960" cy="914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4846320" y="3118104"/>
            <a:ext cx="438912" cy="438912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4846320" y="31181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67528" y="309981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Broader International Participation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52044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Medals and participation concentrate in USA and Europe. Nations like South Sudan, Nauru, and Brunei have minimal representation, especially in female events.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44348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Country Performance Dashboard — Medal map and NOC Region breakdown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3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 is the undisputed Olympic leader — 5,646 medals &amp; 18,604 entries across 120 years of competition.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066544"/>
            <a:ext cx="8412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02920" y="206654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1226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Athletics is the backbone of the Games — highest entries (38,624) and medals (3,969) of any sport.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61488"/>
            <a:ext cx="8412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8072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grew massively over time, peaking at 11,183 athletes in Barcelona 1992, before splitting into separate Summer/Winter schedules.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8412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02920" y="345643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0215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inclusion has improved steadily, yet female athletes still represent only 28% of all entries — a gap that demands action.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51376"/>
            <a:ext cx="8412480" cy="5943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02920" y="415137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19709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 success remains concentrated in a handful of nations; expanding grassroots and international support is key to a truly global Games.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709</Words>
  <Application>Microsoft Office PowerPoint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120 Years of Olympic History</dc:title>
  <dc:subject>PptxGenJS Presentation</dc:subject>
  <dc:creator>PptxGenJS</dc:creator>
  <cp:lastModifiedBy>Udofia Idarabong</cp:lastModifiedBy>
  <cp:revision>3</cp:revision>
  <dcterms:created xsi:type="dcterms:W3CDTF">2026-05-25T23:36:50Z</dcterms:created>
  <dcterms:modified xsi:type="dcterms:W3CDTF">2026-06-02T16:29:51Z</dcterms:modified>
</cp:coreProperties>
</file>